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맑은 고딕"/>
              </a:defRPr>
            </a:pPr>
            <a:r>
              <a:t>Amazon TV XPath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  <a:latin typeface="맑은 고딕"/>
              </a:defRPr>
            </a:pPr>
            <a:r>
              <a:t>신규 입사자를 위한 XPath 수정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  <a:latin typeface="맑은 고딕"/>
              </a:defRPr>
            </a:pPr>
            <a:r>
              <a:t>Samsung DX Retail Crawler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맑은 고딕"/>
              </a:defRPr>
            </a:pPr>
            <a:r>
              <a:t>📋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latin typeface="맑은 고딕"/>
              </a:defRPr>
            </a:pPr>
            <a:r>
              <a:t>📁 설정 테이블</a:t>
            </a:r>
          </a:p>
          <a:p>
            <a:pPr>
              <a:spcAft>
                <a:spcPts val="2000"/>
              </a:spcAft>
              <a:defRPr sz="1400">
                <a:latin typeface="맑은 고딕"/>
              </a:defRPr>
            </a:pPr>
            <a:r>
              <a:t>    amazon_tv_config (category='xpath')</a:t>
            </a:r>
          </a:p>
          <a:p>
            <a:pPr>
              <a:spcAft>
                <a:spcPts val="500"/>
              </a:spcAft>
              <a:defRPr sz="1800" b="1">
                <a:latin typeface="맑은 고딕"/>
              </a:defRPr>
            </a:pPr>
            <a:r>
              <a:t>📄 대상 파일</a:t>
            </a:r>
          </a:p>
          <a:p>
            <a:pPr>
              <a:spcAft>
                <a:spcPts val="2000"/>
              </a:spcAft>
              <a:defRPr sz="1400">
                <a:latin typeface="맑은 고딕"/>
              </a:defRPr>
            </a:pPr>
            <a:r>
              <a:t>    amazon_tv_dt1.py, amazon_tv_dt2.py</a:t>
            </a:r>
          </a:p>
          <a:p>
            <a:pPr>
              <a:spcAft>
                <a:spcPts val="500"/>
              </a:spcAft>
              <a:defRPr sz="1800" b="1">
                <a:latin typeface="맑은 고딕"/>
              </a:defRPr>
            </a:pPr>
            <a:r>
              <a:t>🔧 XPath 그룹핑</a:t>
            </a:r>
          </a:p>
          <a:p>
            <a:pPr>
              <a:spcAft>
                <a:spcPts val="2000"/>
              </a:spcAft>
              <a:defRPr sz="1400">
                <a:latin typeface="맑은 고딕"/>
              </a:defRPr>
            </a:pPr>
            <a:r>
              <a:t>    config_key에서 _숫자 제거하여 그룹화</a:t>
            </a:r>
            <a:br/>
            <a:r>
              <a:t>    예: price_1, price_2 → price 리스트로 묶임</a:t>
            </a:r>
          </a:p>
          <a:p>
            <a:pPr>
              <a:spcAft>
                <a:spcPts val="500"/>
              </a:spcAft>
              <a:defRPr sz="1800" b="1">
                <a:latin typeface="맑은 고딕"/>
              </a:defRPr>
            </a:pPr>
            <a:r>
              <a:t>⚡ 우선순위</a:t>
            </a:r>
          </a:p>
          <a:p>
            <a:pPr>
              <a:spcAft>
                <a:spcPts val="2000"/>
              </a:spcAft>
              <a:defRPr sz="1400">
                <a:latin typeface="맑은 고딕"/>
              </a:defRPr>
            </a:pPr>
            <a:r>
              <a:t>    priority 값이 낮을수록 먼저 시도 (1이 최우선)</a:t>
            </a:r>
          </a:p>
          <a:p>
            <a:pPr>
              <a:spcAft>
                <a:spcPts val="500"/>
              </a:spcAft>
              <a:defRPr sz="1800" b="1">
                <a:latin typeface="맑은 고딕"/>
              </a:defRPr>
            </a:pPr>
            <a:r>
              <a:t>🔄 Fallback</a:t>
            </a:r>
          </a:p>
          <a:p>
            <a:pPr>
              <a:spcAft>
                <a:spcPts val="2000"/>
              </a:spcAft>
              <a:defRPr sz="1400">
                <a:latin typeface="맑은 고딕"/>
              </a:defRPr>
            </a:pPr>
            <a:r>
              <a:t>    DB에 없으면 코드 내 기본 XPath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📦 메인/BSR 페이지 XPath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743200"/>
                <a:gridCol w="3108960"/>
              </a:tblGrid>
              <a:tr h="653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config_key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수집 데이터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XPath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Samsung 65" Class OLED S90D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//span[@id='productTitle']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product_price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가격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$1,597.99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//span[@class='a-price-whole']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상품 이미지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https://m.media-amazon.com/images/I/...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//img[@id='landingImage']/@src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product_asin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ASIN (상품코드)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B0CTS8P319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//div[@data-asin]/@data-asin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//span[@class='a-icon-alt']</a:t>
                      </a:r>
                    </a:p>
                  </a:txBody>
                  <a:tcPr anchor="ctr"/>
                </a:tc>
              </a:tr>
              <a:tr h="65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review_count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리뷰 수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1,234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//span[@id='acrCustomerReviewText']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📱 상세 페이지 - 기본 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743200"/>
                <a:gridCol w="3108960"/>
              </a:tblGrid>
              <a:tr h="653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config_key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수집 데이터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XPath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screen_size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화면 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65 inches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//tr[contains(.,'Screen Size')]//td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model_name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모델명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QN65S90DAFXZA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//tr[contains(.,'Model Name')]//td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display_tech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디스플레이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OLED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//tr[contains(.,'Display Technology')]//td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해상도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4K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//tr[contains(.,'Resolution')]//td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브랜드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SAMSUNG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//tr[contains(.,'Brand')]//td</a:t>
                      </a:r>
                    </a:p>
                  </a:txBody>
                  <a:tcPr anchor="ctr"/>
                </a:tc>
              </a:tr>
              <a:tr h="65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refresh_rate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주사율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120 Hz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//tr[contains(.,'Refresh Rate')]//td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💰 상세 페이지 - 가격 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743200"/>
                <a:gridCol w="3108960"/>
              </a:tblGrid>
              <a:tr h="653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config_key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수집 데이터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XPath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final_price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최종 판매가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$1,597.99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//span[@class='a-price']//span[@class='a-offscreen']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original_price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원래 가격 (정가)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$2,499.99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//span[@class='a-price a-text-price']//span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price_savings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할인 금액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Save $902.00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//span[contains(@class,'savingsPercentage')]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price_status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가격 상태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In Stock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//div[@id='availability']//span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sold_by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판매자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Amazon.com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//div[@id='merchant-info']</a:t>
                      </a:r>
                    </a:p>
                  </a:txBody>
                  <a:tcPr anchor="ctr"/>
                </a:tc>
              </a:tr>
              <a:tr h="65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ships_from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배송 출발지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Amazon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//div[@id='fulfilledBy']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⭐ 상세 페이지 - 리뷰 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743200"/>
                <a:gridCol w="3108960"/>
              </a:tblGrid>
              <a:tr h="653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config_key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수집 데이터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XPath 예시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star_rating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별점 (5점 만점)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4.5 out of 5 stars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//span[@id='acrPopover']/@title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count_of_reviews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전체 리뷰 수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1,234 ratings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//span[@id='acrCustomerReviewText']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review_link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리뷰 페이지 링크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/product-reviews/B0CTS8P319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//a[@data-hook='see-all-reviews-link']</a:t>
                      </a:r>
                    </a:p>
                  </a:txBody>
                  <a:tcPr anchor="ctr"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5_star_pct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5점 비율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//tr[@class='a-histogram-row'][1]//td[3]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4_star_pct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4점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//tr[@class='a-histogram-row'][2]//td[3]</a:t>
                      </a:r>
                    </a:p>
                  </a:txBody>
                  <a:tcPr anchor="ctr"/>
                </a:tc>
              </a:tr>
              <a:tr h="65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1_star_pct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1점 비율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//tr[@class='a-histogram-row'][5]//td[3]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🔄 자주 변경되는 XPath 목록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686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config_key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빈도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원인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확인 방법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final_price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Amazon 가격 표시 구조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상품 상세 페이지에서 F12 → 가격 요소 확인</a:t>
                      </a:r>
                    </a:p>
                  </a:txBody>
                  <a:tcPr anchor="ctr"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star_rating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리뷰 섹션 HTML 변경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별점 아이콘 주변 요소 검사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sold_by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판매자 정보 영역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Add to Cart 버튼 하단 확인</a:t>
                      </a:r>
                    </a:p>
                  </a:txBody>
                  <a:tcPr anchor="ctr"/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screen_size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상품 스펙 테이블 구조 안정적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Product Details 섹션 확인</a:t>
                      </a:r>
                    </a:p>
                  </a:txBody>
                  <a:tcPr anchor="ctr">
                    <a:solidFill>
                      <a:srgbClr val="F0F8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product_image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이미지 ID 안정적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맑은 고딕"/>
                        </a:defRPr>
                      </a:pPr>
                      <a:r>
                        <a:t>메인 이미지 요소 확인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🛠️ XPath 수정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latin typeface="맑은 고딕"/>
              </a:defRPr>
            </a:pPr>
            <a:r>
              <a:t>1️⃣ 문제 확인</a:t>
            </a:r>
          </a:p>
          <a:p>
            <a:pPr>
              <a:spcAft>
                <a:spcPts val="1200"/>
              </a:spcAft>
              <a:defRPr sz="1100">
                <a:latin typeface="맑은 고딕"/>
              </a:defRPr>
            </a:pPr>
            <a:r>
              <a:t>    크롤링 결과에서 특정 필드가 NULL이거나 잘못된 값인지 확인</a:t>
            </a:r>
          </a:p>
          <a:p>
            <a:pPr>
              <a:spcAft>
                <a:spcPts val="300"/>
              </a:spcAft>
              <a:defRPr sz="1400" b="1">
                <a:latin typeface="맑은 고딕"/>
              </a:defRPr>
            </a:pPr>
            <a:r>
              <a:t>2️⃣ 브라우저에서 확인</a:t>
            </a:r>
          </a:p>
          <a:p>
            <a:pPr>
              <a:spcAft>
                <a:spcPts val="1200"/>
              </a:spcAft>
              <a:defRPr sz="1100">
                <a:latin typeface="맑은 고딕"/>
              </a:defRPr>
            </a:pPr>
            <a:r>
              <a:t>    Amazon 페이지 → F12 개발자도구 → 해당 요소 찾기</a:t>
            </a:r>
            <a:br/>
            <a:r>
              <a:t>    Elements 탭에서 Ctrl+F로 XPath 테스트</a:t>
            </a:r>
          </a:p>
          <a:p>
            <a:pPr>
              <a:spcAft>
                <a:spcPts val="300"/>
              </a:spcAft>
              <a:defRPr sz="1400" b="1">
                <a:latin typeface="맑은 고딕"/>
              </a:defRPr>
            </a:pPr>
            <a:r>
              <a:t>3️⃣ DB에서 XPath 수정</a:t>
            </a:r>
          </a:p>
          <a:p>
            <a:pPr>
              <a:spcAft>
                <a:spcPts val="1200"/>
              </a:spcAft>
              <a:defRPr sz="1100">
                <a:latin typeface="Consolas"/>
              </a:defRPr>
            </a:pPr>
            <a:r>
              <a:t>    SQL 예시:</a:t>
            </a:r>
            <a:br/>
            <a:r>
              <a:t>    UPDATE amazon_tv_config</a:t>
            </a:r>
            <a:br/>
            <a:r>
              <a:t>    SET config_value = '//새로운/xpath'</a:t>
            </a:r>
            <a:br/>
            <a:r>
              <a:t>    WHERE config_key = 'final_price_1'</a:t>
            </a:r>
            <a:br/>
            <a:r>
              <a:t>    AND category = 'xpath';</a:t>
            </a:r>
          </a:p>
          <a:p>
            <a:pPr>
              <a:spcAft>
                <a:spcPts val="300"/>
              </a:spcAft>
              <a:defRPr sz="1400" b="1">
                <a:latin typeface="맑은 고딕"/>
              </a:defRPr>
            </a:pPr>
            <a:r>
              <a:t>4️⃣ 새 XPath 추가 (Fallback)</a:t>
            </a:r>
          </a:p>
          <a:p>
            <a:pPr>
              <a:spcAft>
                <a:spcPts val="1200"/>
              </a:spcAft>
              <a:defRPr sz="1100">
                <a:latin typeface="Consolas"/>
              </a:defRPr>
            </a:pPr>
            <a:r>
              <a:t>    SQL 예시:</a:t>
            </a:r>
            <a:br/>
            <a:r>
              <a:t>    INSERT INTO amazon_tv_config</a:t>
            </a:r>
            <a:br/>
            <a:r>
              <a:t>    (category, config_key, config_value, priority, is_active)</a:t>
            </a:r>
            <a:br/>
            <a:r>
              <a:t>    VALUES ('xpath', 'final_price_2', '//대체/xpath', 2, TRUE);</a:t>
            </a:r>
          </a:p>
          <a:p>
            <a:pPr>
              <a:spcAft>
                <a:spcPts val="300"/>
              </a:spcAft>
              <a:defRPr sz="1400" b="1">
                <a:latin typeface="맑은 고딕"/>
              </a:defRPr>
            </a:pPr>
            <a:r>
              <a:t>5️⃣ 테스트</a:t>
            </a:r>
          </a:p>
          <a:p>
            <a:pPr>
              <a:spcAft>
                <a:spcPts val="1200"/>
              </a:spcAft>
              <a:defRPr sz="1100">
                <a:latin typeface="맑은 고딕"/>
              </a:defRPr>
            </a:pPr>
            <a:r>
              <a:t>    크롤러 실행하여 데이터 수집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맑은 고딕"/>
              </a:defRPr>
            </a:pPr>
            <a:r>
              <a:t>⚠️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is_active = TRUE 확인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비활성화된 XPath는 로드되지 않음</a:t>
            </a:r>
          </a:p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priority 순서 주의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숫자가 낮을수록 먼저 시도됨 (1 &gt; 2 &gt; 3)</a:t>
            </a:r>
          </a:p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특수문자 이스케이프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XPath 내 따옴표 주의: ' → '' (SQL에서)</a:t>
            </a:r>
          </a:p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테스트 환경에서 먼저 확인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운영 DB 직접 수정 전 로컬 테스트 필수</a:t>
            </a:r>
          </a:p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기존 XPath 삭제 금지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is_active = FALSE로 변경 후 새 XPath 추가 권장</a:t>
            </a:r>
          </a:p>
          <a:p>
            <a:pPr>
              <a:spcAft>
                <a:spcPts val="300"/>
              </a:spcAft>
              <a:defRPr sz="1600" b="1">
                <a:latin typeface="맑은 고딕"/>
              </a:defRPr>
            </a:pPr>
            <a:r>
              <a:t>🔴 config_key 네이밍 규칙</a:t>
            </a:r>
          </a:p>
          <a:p>
            <a:pPr>
              <a:spcAft>
                <a:spcPts val="1500"/>
              </a:spcAft>
              <a:defRPr sz="1300">
                <a:latin typeface="맑은 고딕"/>
              </a:defRPr>
            </a:pPr>
            <a:r>
              <a:t>    → 기존 패턴 유지: {필드명}_{우선순위번호}</a:t>
            </a:r>
            <a:br/>
            <a:r>
              <a:t>    예: final_price_1, final_price_2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