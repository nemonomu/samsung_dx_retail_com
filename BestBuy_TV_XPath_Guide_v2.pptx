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BestBuy TV 크롤러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ACCEE"/>
                </a:solidFill>
              </a:defRPr>
            </a:pPr>
            <a:r>
              <a:t>XPath 설정 가이드 (신규입사자용)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Samsung DS Retail Monitoring Team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2025년 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97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개요 및 설정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설정 테이블 구조, 수정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91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크롤러 구조도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659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전체 크롤러 실행 흐름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리스트 페이지 XPath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60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bby_tv_main1, bby_tv_bsr1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036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프로모션 페이지 XPath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1546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bby_tv_pmt1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474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트렌딩 딜 XPath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49039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bby_tv_trend_crawl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69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상세 페이지 XPath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43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bby_tv_dt1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6344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663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자주 변경되는 XPath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9377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변경 빈도 및 사유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5780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257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XPath 수정 예시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5321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실제 SQL 예시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52160"/>
            <a:ext cx="54864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8521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Quick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6126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한눈에 보는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01. 개요 및 설정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865"/>
                </a:solidFill>
              </a:defRPr>
            </a:pPr>
            <a:r>
              <a:t>📋 설정 테이블 구조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테이블명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bby_tv_config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xpath, url, timing, constant, table, retry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설정 키 (예: product_title)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config_value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실제 값 (XPath, URL 등)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file_name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적용 파일 (예: bby_tv_main1)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우선순위 (1이 최우선)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is_active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활성화 여부 (TRUE/FALSE)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865"/>
                </a:solidFill>
              </a:defRPr>
            </a:pPr>
            <a:r>
              <a:t>🔧 XPath 수정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300">
                <a:solidFill>
                  <a:srgbClr val="50FA7B"/>
                </a:solidFill>
                <a:latin typeface="Consolas"/>
              </a:defRPr>
            </a:pPr>
            <a:r>
              <a:t>  UPDATE bby_tv_config</a:t>
            </a:r>
          </a:p>
          <a:p>
            <a:pPr>
              <a:defRPr sz="1300">
                <a:solidFill>
                  <a:srgbClr val="50FA7B"/>
                </a:solidFill>
                <a:latin typeface="Consolas"/>
              </a:defRPr>
            </a:pPr>
            <a:r>
              <a:t>  SET config_value = '새로운_xpath'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WHERE category = 'xpath'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AND config_key = 'product_title'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AND file_name = 'bby_tv_main1'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AND priority = 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865"/>
                </a:solidFill>
              </a:defRPr>
            </a:pPr>
            <a:r>
              <a:t>⚡ Priority (우선순위) 작동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09160"/>
            <a:ext cx="1280160" cy="54864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Priority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754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800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3E3E"/>
                </a:solidFill>
              </a:defRPr>
            </a:pPr>
            <a:r>
              <a:t>실패 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54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709160"/>
            <a:ext cx="1280160" cy="54864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Priority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754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800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3E3E"/>
                </a:solidFill>
              </a:defRPr>
            </a:pPr>
            <a:r>
              <a:t>실패 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709160"/>
            <a:ext cx="1280160" cy="548640"/>
          </a:xfrm>
          <a:prstGeom prst="roundRect">
            <a:avLst/>
          </a:prstGeom>
          <a:solidFill>
            <a:srgbClr val="8BC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Priority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02. 크롤러 구조도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3047695" cy="640080"/>
          </a:xfrm>
          <a:prstGeom prst="round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bby_tv_crawl.py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737360"/>
            <a:ext cx="27432" cy="4572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1645920" cy="100584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bby_tv_main1</a:t>
            </a:r>
          </a:p>
          <a:p>
            <a:pPr algn="ctr">
              <a:defRPr sz="1000">
                <a:solidFill>
                  <a:srgbClr val="CCE5FF"/>
                </a:solidFill>
              </a:defRPr>
            </a:pPr>
            <a:r>
              <a:t>메인 TV 목록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737360"/>
            <a:ext cx="27432" cy="4572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2194560"/>
            <a:ext cx="1645920" cy="100584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bby_tv_bsr1</a:t>
            </a:r>
          </a:p>
          <a:p>
            <a:pPr algn="ctr">
              <a:defRPr sz="1000">
                <a:solidFill>
                  <a:srgbClr val="CCE5FF"/>
                </a:solidFill>
              </a:defRPr>
            </a:pPr>
            <a:r>
              <a:t>베스트셀러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27432" cy="4572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2194560"/>
            <a:ext cx="1645920" cy="100584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bby_tv_pmt1</a:t>
            </a:r>
          </a:p>
          <a:p>
            <a:pPr algn="ctr">
              <a:defRPr sz="1000">
                <a:solidFill>
                  <a:srgbClr val="CCE5FF"/>
                </a:solidFill>
              </a:defRPr>
            </a:pPr>
            <a:r>
              <a:t>프로모션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737360"/>
            <a:ext cx="27432" cy="4572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2194560"/>
            <a:ext cx="1645920" cy="100584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bby_tv_trend_crawl</a:t>
            </a:r>
          </a:p>
          <a:p>
            <a:pPr algn="ctr">
              <a:defRPr sz="1000">
                <a:solidFill>
                  <a:srgbClr val="CCE5FF"/>
                </a:solidFill>
              </a:defRPr>
            </a:pPr>
            <a:r>
              <a:t>트렌딩 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0" y="1737360"/>
            <a:ext cx="27432" cy="4572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20" y="2194560"/>
            <a:ext cx="1645920" cy="100584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bby_tv_dt1</a:t>
            </a:r>
          </a:p>
          <a:p>
            <a:pPr algn="ctr">
              <a:defRPr sz="1000">
                <a:solidFill>
                  <a:srgbClr val="CCE5FF"/>
                </a:solidFill>
              </a:defRPr>
            </a:pPr>
            <a:r>
              <a:t>상세 페이지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91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53E3E"/>
                </a:solidFill>
              </a:defRPr>
            </a:pPr>
            <a:r>
              <a:t>URL 수집 ─────────────────────────────────────────→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865"/>
                </a:solidFill>
              </a:defRPr>
            </a:pPr>
            <a:r>
              <a:t>📦 저장 테이블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8288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bby_tv_main1</a:t>
            </a:r>
          </a:p>
          <a:p>
            <a:pPr algn="ctr">
              <a:defRPr sz="900">
                <a:solidFill>
                  <a:srgbClr val="CCFFCC"/>
                </a:solidFill>
              </a:defRPr>
            </a:pPr>
            <a:r>
              <a:t>메인 목록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4389120"/>
            <a:ext cx="18288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bby_tv_bsr1</a:t>
            </a:r>
          </a:p>
          <a:p>
            <a:pPr algn="ctr">
              <a:defRPr sz="900">
                <a:solidFill>
                  <a:srgbClr val="CCFFCC"/>
                </a:solidFill>
              </a:defRPr>
            </a:pPr>
            <a:r>
              <a:t>베스트셀러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389120"/>
            <a:ext cx="18288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bby_tv_pmt1</a:t>
            </a:r>
          </a:p>
          <a:p>
            <a:pPr algn="ctr">
              <a:defRPr sz="900">
                <a:solidFill>
                  <a:srgbClr val="CCFFCC"/>
                </a:solidFill>
              </a:defRPr>
            </a:pPr>
            <a:r>
              <a:t>프로모션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389120"/>
            <a:ext cx="18288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bby_tv_Trend_crawl</a:t>
            </a:r>
          </a:p>
          <a:p>
            <a:pPr algn="ctr">
              <a:defRPr sz="900">
                <a:solidFill>
                  <a:srgbClr val="CCFFCC"/>
                </a:solidFill>
              </a:defRPr>
            </a:pPr>
            <a:r>
              <a:t>트렌딩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389120"/>
            <a:ext cx="18288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bby_tv_crawl</a:t>
            </a:r>
          </a:p>
          <a:p>
            <a:pPr algn="ctr">
              <a:defRPr sz="900">
                <a:solidFill>
                  <a:srgbClr val="CCFFCC"/>
                </a:solidFill>
              </a:defRPr>
            </a:pPr>
            <a:r>
              <a:t>상세 데이터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389120"/>
            <a:ext cx="18288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tv_retail_com</a:t>
            </a:r>
          </a:p>
          <a:p>
            <a:pPr algn="ctr">
              <a:defRPr sz="900">
                <a:solidFill>
                  <a:srgbClr val="CCFFCC"/>
                </a:solidFill>
              </a:defRPr>
            </a:pPr>
            <a:r>
              <a:t>통합 데이터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303520"/>
            <a:ext cx="2560320" cy="9144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bby_tv_config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XPath, URL, Timing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577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A623"/>
                </a:solidFill>
              </a:defRPr>
            </a:pPr>
            <a:r>
              <a:t>설정 로드 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03. 리스트 페이지 XPath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📁 파일: bby_tv_main1.py, bby_tv_bsr1.py  |  메인 TV 목록 / 베스트셀러 목록 (동일 구조)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6304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188720"/>
                <a:gridCol w="6126480"/>
              </a:tblGrid>
              <a:tr h="43226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XPath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delivery_availability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배달 가능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.//div[@class="fulfillment"]//p[contains(., "Delivery")...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추가 할인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.//div[@data-testid="plus-x-offers"]//span[@class="font...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pickup_availability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매장 픽업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.//div[@class="fulfillment"]//p[contains(., "Pick up")]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product_container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카드 전체 영역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.//li[contains(@class, "product-list-item") and contain...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product_link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링크 요소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.//a[@class="product-list-item-link"]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.//h2[contains(@class, "product-title")]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product_title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.//a[@class="product-list-item-link"]/@title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.//a[@class="product-list-item-link"]/@href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shipping_availability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배송 정보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.//div[@class="fulfillment"]//p[contains(., "Get it") o...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sponsored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광고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.//div[@class="sponsored"]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04. 프로모션 페이지 XPath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📁 파일: bby_tv_pmt1.py  |  TV 세일/프로모션 페이지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6304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188720"/>
                <a:gridCol w="6126480"/>
              </a:tblGrid>
              <a:tr h="2377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XPath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all_sections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프로모션 섹션 전체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//section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carousel_list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캐러셀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//ul[@class="c-carousel-list"]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h2_headline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섹션 제목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//h2[contains(@class, "headline80")]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h2_headline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섹션 제목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//h2[@class="headline80 font-weight-bold font-condensed...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offer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할인 정보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.//button[@id="offer-link"]//div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할인 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.//button[@data-testid="offer-link"]//div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product_item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개별 상품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.//li[@class="item c-carousel-item "]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.//span[contains(@class, "BxIuyHdYvE_KO21sTHqZ")]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product_name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.//div[@data-testid="product-card-title"]//span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.//a[@data-testid="product-card-title-link"]//span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.//a[@data-testid="hero-experience-deal-card-test-id"]/...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.//a[@data-testid="product-card-title-link"]/@href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.//div[@class="content-wrapper"]//a/@href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.//a/@href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promo_type_hero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히어로 배너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.//span[contains(@class, "hero-fluid-headline-2")]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p_subtitle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섹션 부제목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//p[contains(@class, "heading-4") and contains(@class,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p_subtitle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섹션 부제목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//p[@class="heading-4 font-weight-light v-text-pure-whi...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section_p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섹션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.//p[contains(@class, "heading") or contains(@class, "s...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section_title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섹션 타이틀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.//h2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05. 트렌딩 딜 XPath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📁 파일: bby_tv_trend_crawl.py  |  홈페이지 Trending Deals 섹션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6304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188720"/>
                <a:gridCol w="6126480"/>
              </a:tblGrid>
              <a:tr h="27969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XPath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product_item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개별 상품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.//div[@data-testid="story-block-trending_deals_story"]...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//div[@data-testid="story-block-trending_deals_story"]/...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product_items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목록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//div[@data-testid="story-block-trending_deals_story"]/...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//div[@data-testid="story-block-trending_deals_story"]/...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product_name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.//span[@data-testid="ProductCard-Title-TestID"]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.//span[@data-testid="ProductCard-Title-TestID"]/@aria-...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.//a[@data-testid="trending-deals-card-TestID"]/@href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.//a[contains(@href, "/product/")]/@href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트렌딩 순위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.//div[@data-testid="PriceBlockOffer-CarouselProductRan...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트렌딩 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.//div[contains(@data-testid, "CarouselProductRank")]//...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trending_section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트렌딩 섹션 영역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xpath://div[@data-testid="story-block-trending_deals_st...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tvs_button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 카테고리 버튼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xpath:/html/body/div[6]/div/div/div/div/div[4]/div/div/...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tvs_button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 카테고리 버튼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xpath://button[.//span[contains(text(), "TVs") and cont...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tvs_button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 카테고리 버튼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xpath://button[contains(., "TVs &amp; Projectors")]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tvs_button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 카테고리 버튼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xpath://button[@role="tab"]//span[contains(text(), "TVs...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7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tvs_button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 카테고리 버튼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//button[@role="tab"]//span[contains(text(), "TVs")]/..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06. 상세 페이지 XPath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📁 파일: bby_tv_dt1.py  |  개별 상품 상세 정보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6304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188720"/>
                <a:gridCol w="6126480"/>
              </a:tblGrid>
              <a:tr h="27969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XPath</a:t>
                      </a:r>
                    </a:p>
                  </a:txBody>
                  <a:tcPr>
                    <a:solidFill>
                      <a:srgbClr val="12286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compare_product_title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비교 상품명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.//div[@class="product-title font-weight-normal pb-100 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final_price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최종 가격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.//div[@data-testid="price-block-customer-price"]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model_number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모델 번호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xpath://div[contains(text(), "Model Number")]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next_page_btn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다음 페이지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xpath://li[contains(@class, "page next")]//a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overall_rating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평점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.//div[@class="overall-rating"]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xpath://h1[contains(@class, "h4") or contains(@class, "...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review_count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.//span[@class="c-reviews order-2"]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see_all_reviews_btn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더보기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.//button[contains(., "See All Customer Reviews")]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specs_button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스펙 버튼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.//button[contains(@class, "specs-accordion")]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키워드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xpath:/html/body/div[5]/div[8]/div[2]/aside/ul/li/a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키워드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xpath://ul[@class="list-unstyled"]/li/a[contains(@class...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키워드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xpath://ul[@class="list-unstyled"]/li/a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키워드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xpath://div[contains(@class, "customer-review-pros-stat...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키워드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xpath://div[contains(., "Highly rated by customers for"...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키워드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xpath://div[contains(@class, "pros-container")]//button...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9712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키워드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onsolas"/>
                        </a:defRPr>
                      </a:pPr>
                      <a:r>
                        <a:t>xpath://div[contains(@class, "cons-container")]//button...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07. 자주 변경되는 XPath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53E3E"/>
                </a:solidFill>
              </a:defRPr>
            </a:pPr>
            <a:r>
              <a:t>🔴 변경 빈도: 높음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파일</a:t>
                      </a:r>
                    </a:p>
                  </a:txBody>
                  <a:tcPr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변경 사유</a:t>
                      </a:r>
                    </a:p>
                  </a:txBody>
                  <a:tcPr>
                    <a:solidFill>
                      <a:srgbClr val="E53E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클래스명 변경이 잦음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data-testid 속성 변경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tvs_button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trend_crawl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홈페이지 리뉴얼 시 구조 변경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</a:defRPr>
            </a:pPr>
            <a:r>
              <a:t>🟡 변경 빈도: 중간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46304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파일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변경 사유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top_mentions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리뷰 UI 개편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main1, pmt1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할인 배지 디자인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carousel_list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pmt1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프로모션 레이아웃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A04D"/>
                </a:solidFill>
              </a:defRPr>
            </a:pPr>
            <a:r>
              <a:t>🟢 변경 빈도: 낮음 (거의 변경 없음)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93192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7589520"/>
              </a:tblGrid>
              <a:tr h="4206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config_key</a:t>
                      </a:r>
                    </a:p>
                  </a:txBody>
                  <a:tcPr>
                    <a:solidFill>
                      <a:srgbClr val="2EA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파일</a:t>
                      </a:r>
                    </a:p>
                  </a:txBody>
                  <a:tcPr>
                    <a:solidFill>
                      <a:srgbClr val="2EA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안정적인 이유</a:t>
                      </a:r>
                    </a:p>
                  </a:txBody>
                  <a:tcPr>
                    <a:solidFill>
                      <a:srgbClr val="2EA04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product_container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상품 카드 구조 - 대규모 리뉴얼 외 안정적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trending_section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trend_crawl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섹션 컨테이너 - 구조적으로 안정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specs_button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스펙 버튼 - 상세페이지 기본 요소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next_page_btn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페이지네이션 - 표준 UI 컴포넌트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08. XPath 수정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📌 시나리오: 상품명 클래스가 'product-title' → 'item-name'으로 변경됨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1C5"/>
                </a:solidFill>
              </a:defRPr>
            </a:pPr>
            <a:r>
              <a:t>방법 1: 기존 XPath 직접 수정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548640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  UPDATE bby_tv_config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SET config_value =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'.//h2[contains(@class, "item-name")]'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WHERE category = 'xpath'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AND config_key = 'product_title'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AND file_name = 'bby_tv_main1'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  AND priority = 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1C5"/>
                </a:solidFill>
              </a:defRPr>
            </a:pPr>
            <a:r>
              <a:t>방법 2: 새 XPath 추가 (fallback 유지)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48640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A9955"/>
                </a:solidFill>
                <a:latin typeface="Consolas"/>
              </a:defRPr>
            </a:pPr>
            <a:r>
              <a:t> -- 기존 priority 2로 변경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UPDATE bby_tv_config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SET priority = 2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WHERE config_key = 'product_title'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AND file_name = 'bby_tv_main1'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AND priority = 1;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</a:t>
            </a:r>
          </a:p>
          <a:p>
            <a:pPr>
              <a:defRPr sz="900">
                <a:solidFill>
                  <a:srgbClr val="6A9955"/>
                </a:solidFill>
                <a:latin typeface="Consolas"/>
              </a:defRPr>
            </a:pPr>
            <a:r>
              <a:t> -- 새 XPath를 priority 1로 추가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INSERT INTO bby_tv_config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(category, config_key, config_value,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file_name, priority, is_active)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VALUES ('xpath', 'product_title',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'.//h2[contains(@class, "item-name")]',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'bby_tv_main1', 1, TRUE);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A04D"/>
                </a:solidFill>
              </a:defRPr>
            </a:pPr>
            <a:r>
              <a:t>✅ 수정 후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A9955"/>
                </a:solidFill>
                <a:latin typeface="Consolas"/>
              </a:defRPr>
            </a:pPr>
            <a:r>
              <a:t>  -- 설정 확인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SELECT config_key, priority, config_value FROM bby_tv_config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WHERE config_key = 'product_title' AND file_name = 'bby_tv_main1' ORDER BY priority;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  -- 테스트 실행 (단일 크롤러)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  python bby_tv_main1.py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2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09.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18288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629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BestBuy TV Crawler - XPath 설정 가이드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194560" cy="2286000"/>
          </a:xfrm>
          <a:prstGeom prst="roundRect">
            <a:avLst/>
          </a:prstGeom>
          <a:solidFill>
            <a:srgbClr val="E8F4FC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2865"/>
                </a:solidFill>
              </a:defRPr>
            </a:pPr>
            <a:r>
              <a:t>main1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메인 목록</a:t>
            </a:r>
          </a:p>
          <a:p>
            <a:pPr algn="ctr">
              <a:defRPr sz="800">
                <a:solidFill>
                  <a:srgbClr val="0071C5"/>
                </a:solidFill>
              </a:defRPr>
            </a:pPr>
            <a:r>
              <a:t>──────────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product_title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product_url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offer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097280"/>
            <a:ext cx="2194560" cy="2286000"/>
          </a:xfrm>
          <a:prstGeom prst="roundRect">
            <a:avLst/>
          </a:prstGeom>
          <a:solidFill>
            <a:srgbClr val="E8F4FC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2865"/>
                </a:solidFill>
              </a:defRPr>
            </a:pPr>
            <a:r>
              <a:t>bsr1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베스트셀러</a:t>
            </a:r>
          </a:p>
          <a:p>
            <a:pPr algn="ctr">
              <a:defRPr sz="800">
                <a:solidFill>
                  <a:srgbClr val="0071C5"/>
                </a:solidFill>
              </a:defRPr>
            </a:pPr>
            <a:r>
              <a:t>──────────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product_title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product_url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offer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9" y="1097280"/>
            <a:ext cx="2194560" cy="2286000"/>
          </a:xfrm>
          <a:prstGeom prst="roundRect">
            <a:avLst/>
          </a:prstGeom>
          <a:solidFill>
            <a:srgbClr val="E8F4FC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2865"/>
                </a:solidFill>
              </a:defRPr>
            </a:pPr>
            <a:r>
              <a:t>pmt1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프로모션</a:t>
            </a:r>
          </a:p>
          <a:p>
            <a:pPr algn="ctr">
              <a:defRPr sz="800">
                <a:solidFill>
                  <a:srgbClr val="0071C5"/>
                </a:solidFill>
              </a:defRPr>
            </a:pPr>
            <a:r>
              <a:t>──────────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product_name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product_url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carousel_list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79" y="1097280"/>
            <a:ext cx="2194560" cy="2286000"/>
          </a:xfrm>
          <a:prstGeom prst="roundRect">
            <a:avLst/>
          </a:prstGeom>
          <a:solidFill>
            <a:srgbClr val="E8F4FC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2865"/>
                </a:solidFill>
              </a:defRPr>
            </a:pPr>
            <a:r>
              <a:t>trend_crawl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트렌딩</a:t>
            </a:r>
          </a:p>
          <a:p>
            <a:pPr algn="ctr">
              <a:defRPr sz="800">
                <a:solidFill>
                  <a:srgbClr val="0071C5"/>
                </a:solidFill>
              </a:defRPr>
            </a:pPr>
            <a:r>
              <a:t>──────────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tvs_button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product_name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097280"/>
            <a:ext cx="2194560" cy="2286000"/>
          </a:xfrm>
          <a:prstGeom prst="roundRect">
            <a:avLst/>
          </a:prstGeom>
          <a:solidFill>
            <a:srgbClr val="E8F4FC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2865"/>
                </a:solidFill>
              </a:defRPr>
            </a:pPr>
            <a:r>
              <a:t>dt1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상세</a:t>
            </a:r>
          </a:p>
          <a:p>
            <a:pPr algn="ctr">
              <a:defRPr sz="800">
                <a:solidFill>
                  <a:srgbClr val="0071C5"/>
                </a:solidFill>
              </a:defRPr>
            </a:pPr>
            <a:r>
              <a:t>──────────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product_title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final_price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top_mentions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612880" cy="2377440"/>
          </a:xfrm>
          <a:prstGeom prst="roundRect">
            <a:avLst/>
          </a:prstGeom>
          <a:solidFill>
            <a:srgbClr val="FFF3E0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A623"/>
                </a:solidFill>
              </a:defRPr>
            </a:pPr>
            <a:r>
              <a:t>⚠️ 주의사항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1. 수정 전 기존 값 백업 (메모 또는 is_active=FALSE 처리)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2. 수정 후 반드시 단일 크롤러로 테스트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3. file_name 오타 주의 (적용 안 됨)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4. priority 숫자가 낮을수록 먼저 시도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5. 문제 발생 시 is_active=FALSE로 비활성화 후 롤백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